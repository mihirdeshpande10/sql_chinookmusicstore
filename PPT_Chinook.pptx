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F5211B-B4CE-4406-B317-C9641DD5EC41}" v="53" dt="2025-12-14T15:18:48.6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6D269871-72EE-4CEB-A7D0-2FE0DDA36D3A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8971A390-E0EF-46CD-9D28-B27A5B484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717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9871-72EE-4CEB-A7D0-2FE0DDA36D3A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A390-E0EF-46CD-9D28-B27A5B484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236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9871-72EE-4CEB-A7D0-2FE0DDA36D3A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A390-E0EF-46CD-9D28-B27A5B484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050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9871-72EE-4CEB-A7D0-2FE0DDA36D3A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A390-E0EF-46CD-9D28-B27A5B484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3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9871-72EE-4CEB-A7D0-2FE0DDA36D3A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A390-E0EF-46CD-9D28-B27A5B484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828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9871-72EE-4CEB-A7D0-2FE0DDA36D3A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A390-E0EF-46CD-9D28-B27A5B484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357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9871-72EE-4CEB-A7D0-2FE0DDA36D3A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A390-E0EF-46CD-9D28-B27A5B484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257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9871-72EE-4CEB-A7D0-2FE0DDA36D3A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A390-E0EF-46CD-9D28-B27A5B484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111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9871-72EE-4CEB-A7D0-2FE0DDA36D3A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A390-E0EF-46CD-9D28-B27A5B484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710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9871-72EE-4CEB-A7D0-2FE0DDA36D3A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A390-E0EF-46CD-9D28-B27A5B484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049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9871-72EE-4CEB-A7D0-2FE0DDA36D3A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A390-E0EF-46CD-9D28-B27A5B484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8805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9871-72EE-4CEB-A7D0-2FE0DDA36D3A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A390-E0EF-46CD-9D28-B27A5B484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05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9871-72EE-4CEB-A7D0-2FE0DDA36D3A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A390-E0EF-46CD-9D28-B27A5B484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7009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9871-72EE-4CEB-A7D0-2FE0DDA36D3A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A390-E0EF-46CD-9D28-B27A5B484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660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9871-72EE-4CEB-A7D0-2FE0DDA36D3A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A390-E0EF-46CD-9D28-B27A5B484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234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9871-72EE-4CEB-A7D0-2FE0DDA36D3A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A390-E0EF-46CD-9D28-B27A5B48449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356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9871-72EE-4CEB-A7D0-2FE0DDA36D3A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A390-E0EF-46CD-9D28-B27A5B484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04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69871-72EE-4CEB-A7D0-2FE0DDA36D3A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971A390-E0EF-46CD-9D28-B27A5B484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4389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CED66-B59B-27F2-5424-79B9F414E3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Chinook Music store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29E3F-85BD-46A6-837F-B8F2700B83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-Mihir </a:t>
            </a:r>
            <a:r>
              <a:rPr lang="en-IN" dirty="0" err="1"/>
              <a:t>ajit</a:t>
            </a:r>
            <a:r>
              <a:rPr lang="en-IN" dirty="0"/>
              <a:t> Deshpande</a:t>
            </a:r>
          </a:p>
          <a:p>
            <a:r>
              <a:rPr lang="en-IN" dirty="0"/>
              <a:t>DS august’25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140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1F845-9E10-3846-C3F9-5442047E2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About Chinook Music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DAF13-7DC1-A5CB-956A-1072D2A51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Chinook Music Services is a premier name in the physical music records industry, dedicated to delivering exceptional musical entertainment to audiences around the world.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With a global network of retail outlets, distribution channels, and customer-focused services, Chinook provides music lovers with access to an unparalleled collection of physical media.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From timeless classics to contemporary hits, our extensive catalog spans every major genre, ensuring that every musical taste is catered to.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Beyond offering a wide selection, Chinook is committed to preserving the cultural value of physical music formats—vinyl, CDs, and special editions—helping collectors and audiophiles alike connect with music in its most authentic form.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Whether you're a casual listener or a dedicated fan, Chinook Music Services invites you to experience the richness of music through expertly curated content, high-quality products, and passionate service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234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276A-9E86-042E-8A74-C30FFF6EE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and 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919BF-D9D9-298B-421C-6B4D3B1BC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684422"/>
            <a:ext cx="10131425" cy="4860758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music retail industry benefits immensely from data-driven strategies to understand customers and optimize offerings for increased success.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This project focuses on analyzing Chinook Music Store's data to provide key insights for informed decision-making in areas like marketing, inventory, and customer engagement.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primary goal is to analyze Chinook Music Store's sales and customer data to uncover valuable patterns and trends. 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775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23912-6D04-B8AB-958E-78D76FD6D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B3DAA-0590-5E19-BA9D-96E3F5DF4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32548"/>
            <a:ext cx="10131425" cy="4515852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This will be achieved through:</a:t>
            </a:r>
          </a:p>
          <a:p>
            <a:r>
              <a:rPr lang="en-US" dirty="0"/>
              <a:t>      </a:t>
            </a:r>
            <a:r>
              <a:rPr lang="en-US" b="1" dirty="0"/>
              <a:t>Sales Performance</a:t>
            </a:r>
            <a:br>
              <a:rPr lang="en-US" dirty="0"/>
            </a:br>
            <a:r>
              <a:rPr lang="en-US" dirty="0"/>
              <a:t>Identify top-selling artists and genres to support inventory planning and promotional decisions.</a:t>
            </a:r>
          </a:p>
          <a:p>
            <a:r>
              <a:rPr lang="en-US" b="1" dirty="0"/>
              <a:t>Customer Analytics</a:t>
            </a:r>
            <a:br>
              <a:rPr lang="en-US" dirty="0"/>
            </a:br>
            <a:r>
              <a:rPr lang="en-US" dirty="0"/>
              <a:t>Analyze customer demographics, purchasing behavior, and loyalty patterns to improve marketing strategies.</a:t>
            </a:r>
          </a:p>
          <a:p>
            <a:r>
              <a:rPr lang="en-US" b="1" dirty="0"/>
              <a:t>Geographic Insights</a:t>
            </a:r>
            <a:br>
              <a:rPr lang="en-US" dirty="0"/>
            </a:br>
            <a:r>
              <a:rPr lang="en-US" dirty="0"/>
              <a:t>Evaluate sales performance and customer distribution across countries and cities to identify key markets.</a:t>
            </a:r>
          </a:p>
          <a:p>
            <a:r>
              <a:rPr lang="en-US" b="1" dirty="0"/>
              <a:t>Strategic Opportunities</a:t>
            </a:r>
            <a:br>
              <a:rPr lang="en-US" dirty="0"/>
            </a:br>
            <a:r>
              <a:rPr lang="en-US" dirty="0"/>
              <a:t>Identify promotion focus areas and derive insights to improve customer retention and business growth.</a:t>
            </a:r>
          </a:p>
          <a:p>
            <a:r>
              <a:rPr lang="en-US" b="1" dirty="0"/>
              <a:t>Database Enhancement</a:t>
            </a:r>
            <a:br>
              <a:rPr lang="en-US" dirty="0"/>
            </a:br>
            <a:r>
              <a:rPr lang="en-US" dirty="0"/>
              <a:t>Enhance database structure to support deeper analysis (e.g., adding album release year).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811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3C2D3-691B-9B0D-BB58-C85AFDEF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Chinook Music Store Database Schema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19D293-842F-FF0E-20A9-B80CD45A09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764631" y="2237791"/>
            <a:ext cx="8662737" cy="364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0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1F6B5-9D75-38E0-C0A8-943DC395F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Chinook Data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533C4-DA3B-DF19-390E-FFB75DBB4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242691"/>
          </a:xfrm>
        </p:spPr>
        <p:txBody>
          <a:bodyPr>
            <a:normAutofit fontScale="625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900" dirty="0"/>
              <a:t>The dataset comprises 11 detailed tables, each containing structured information covering different facets of Chinook Music Services’ operations.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900" dirty="0"/>
              <a:t>Chinook caters to a diverse global customer base, with users located in 53 cities across 24 countries.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900" dirty="0"/>
              <a:t>Its music catalog features tracks from 25 distinct genres including Rock, Metal, Jazz, Classical, and more demonstrating the company’s dedication to musical variety.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900" dirty="0"/>
              <a:t>The catalog includes 275 artists and 347 unique albums, offering listeners a rich and varied selection of music that appeals to a wide range of tastes and preferences.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900" dirty="0"/>
              <a:t>Detailed information is provided for both albums and their corresponding artists, allowing for in-depth exploration of musical content and artist contributions.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900" dirty="0"/>
              <a:t>The invoice table captures all customer transactions, offering a complete record of sales activity, including dates, purchase amounts, customer details, and purchased items.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900" dirty="0"/>
              <a:t>The dataset provides valuable insights into global music preferences, purchasing behavior, and the performance of various genres and artists.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7035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C2184-33C5-1603-9E50-D814CE66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Customers In Each Country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F8A0B8-58BA-A55D-70C2-692163B04F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55032" y="2141538"/>
            <a:ext cx="9833810" cy="364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526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23C52-40C6-200C-31BD-685B4444E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Customers In Each Country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B8D49-A8AC-42E9-CFD6-60C3ACC40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USA has the highest number of customers, significantly leading with 13.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Canada follows as the second largest customer base with 8 customers.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Brazil, France, and Germany show a similar customer count, each having 5 customers.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 long tail of countries each contributes a smaller number of customers, ranging from 1 to 4.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ZA" noProof="1"/>
              <a:t>The customer demographic breakdown is very diversified.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630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BDCED-1A8A-85E1-83E7-A25D8B01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Across Cities &amp; Countries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C45C74-5402-8E31-5A0C-E2DD899EDB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98357" y="1892969"/>
            <a:ext cx="10131426" cy="435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023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4B5E7-80CC-F12F-871B-AECB57AF6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Across Cities &amp; Countries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E58AC-75D9-E5D4-59B2-AADEDD6A6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>
                <a:ea typeface="Arial" panose="020B0604020202020204" pitchFamily="34" charset="0"/>
              </a:rPr>
              <a:t>Prague (Czech Republic) stands out with the highest total revenue, significantly surpassing all other billing cities.</a:t>
            </a:r>
          </a:p>
          <a:p>
            <a:pPr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>
                <a:ea typeface="Arial" panose="020B0604020202020204" pitchFamily="34" charset="0"/>
              </a:rPr>
              <a:t>Mountain View (USA) and London (United Kingdom) follow as the next highest revenue-generating cities, with relatively close total revenue figures.</a:t>
            </a:r>
          </a:p>
          <a:p>
            <a:pPr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>
                <a:ea typeface="Arial" panose="020B0604020202020204" pitchFamily="34" charset="0"/>
              </a:rPr>
              <a:t>Several European cities, including Berlin (Germany) and Paris (France), contribute substantial total revenue, ranking among the top performers.</a:t>
            </a:r>
          </a:p>
          <a:p>
            <a:pPr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>
                <a:ea typeface="Arial" panose="020B0604020202020204" pitchFamily="34" charset="0"/>
              </a:rPr>
              <a:t>While many cities show similar total revenue in the lower range, Ottawa (Canada) and Reno (USA) exhibit some of the lowest total revenue among the displayed billing cities.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1152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150E1-FD3D-4A9B-0E69-47C773A1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Purchasing Behavior 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599E8C-04B7-6FFA-E965-B68A9D8A8D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232" y="2141538"/>
            <a:ext cx="9966993" cy="364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1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6A553-9F7F-501C-3BA6-8EB05423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Purchasing Behavior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C9CF3-241A-43CF-38CB-0120615AA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>
                <a:ea typeface="Arial" panose="020B0604020202020204" pitchFamily="34" charset="0"/>
              </a:rPr>
              <a:t>Long-term customers consistently outperform short-term customers in purchase frequency, average basket size, and total spending.</a:t>
            </a:r>
          </a:p>
          <a:p>
            <a:pPr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>
                <a:ea typeface="Arial" panose="020B0604020202020204" pitchFamily="34" charset="0"/>
              </a:rPr>
              <a:t>This visual strongly emphasizes the crucial role of customer loyalty as a significant driver of increased company revenue.</a:t>
            </a:r>
          </a:p>
          <a:p>
            <a:pPr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>
                <a:ea typeface="Arial" panose="020B0604020202020204" pitchFamily="34" charset="0"/>
              </a:rPr>
              <a:t>Cultivating long-term customer relationships leads to higher overall sales due to their increased purchasing habits.</a:t>
            </a:r>
          </a:p>
          <a:p>
            <a:pPr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>
                <a:ea typeface="Arial" panose="020B0604020202020204" pitchFamily="34" charset="0"/>
              </a:rPr>
              <a:t>Prioritizing customer retention strategies is essential for sustainable revenue growth and maximizing the value of existing customers.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0735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AF430-D270-CD40-5F59-1302A93FF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By Genre In USA &amp; Other Countries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0A635-FA25-3E7F-BA7F-4E58857BD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AF40B4-06B7-DC7E-4232-438B8EDFB03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830" y="2640249"/>
            <a:ext cx="4986117" cy="26527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58B918-A6E1-EDFE-4431-D7C3CFF2C3B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94947" y="2640249"/>
            <a:ext cx="5122280" cy="265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87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10D9-C139-44C5-5BAE-B2B892DB6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By Genre In USA &amp; Other Countries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74CB7-EA3E-0A47-0F33-5AC45DE04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229853"/>
            <a:ext cx="10131425" cy="4411579"/>
          </a:xfrm>
        </p:spPr>
        <p:txBody>
          <a:bodyPr>
            <a:normAutofit lnSpcReduction="10000"/>
          </a:bodyPr>
          <a:lstStyle/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dirty="0">
                <a:cs typeface="Times New Roman" panose="02020603050405020304" pitchFamily="18" charset="0"/>
              </a:rPr>
              <a:t>Rock music generates the highest total sales in the USA, with a value of 555, significantly outperforming all other genres.</a:t>
            </a: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dirty="0">
                <a:cs typeface="Times New Roman" panose="02020603050405020304" pitchFamily="18" charset="0"/>
              </a:rPr>
              <a:t>Alternative &amp; Punk and Metal follow as the next highest-grossing genres in the USA, achieving similar total sales figures of 129 and 123 respectively.</a:t>
            </a: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dirty="0">
                <a:cs typeface="Times New Roman" panose="02020603050405020304" pitchFamily="18" charset="0"/>
              </a:rPr>
              <a:t>The remaining genres in the top 10 contribute considerably less to the total sales, with Jazz generating the lowest at a value of 14, indicating a smaller market share compared to Rock.</a:t>
            </a:r>
          </a:p>
          <a:p>
            <a:pPr marL="34290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dirty="0">
                <a:cs typeface="Times New Roman" panose="02020603050405020304" pitchFamily="18" charset="0"/>
              </a:rPr>
              <a:t>Rock music accounts for the largest portion of sales with a significantly higher value of 2053, highlighting its widespread financial success globally.</a:t>
            </a:r>
          </a:p>
          <a:p>
            <a:pPr marL="34290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dirty="0">
                <a:cs typeface="Times New Roman" panose="02020603050405020304" pitchFamily="18" charset="0"/>
              </a:rPr>
              <a:t>Metal and Alternative &amp; Punk are the next strongest genres in terms of sales internationally, mirroring the US trend but with greater revenue.</a:t>
            </a:r>
          </a:p>
          <a:p>
            <a:pPr marL="34290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dirty="0">
                <a:cs typeface="Times New Roman" panose="02020603050405020304" pitchFamily="18" charset="0"/>
              </a:rPr>
              <a:t>A wider variety of genres contribute in regions outside the USA, including Latin, Jazz, R&amp;B/Soul, Blues, Alternative and others although their individual sales are lower than Rock and Metal</a:t>
            </a:r>
            <a:r>
              <a:rPr lang="en-US" dirty="0">
                <a:latin typeface="Univers Condensed Light (Body)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endParaRPr lang="en-US" dirty="0"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768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3A06D-A8F6-801A-5F3E-7B620FFF6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Churn Rate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112ED-83D4-7DE3-9BBA-F9AF2E67D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b="1" dirty="0">
                <a:ea typeface="Arial" panose="020B0604020202020204" pitchFamily="34" charset="0"/>
              </a:rPr>
              <a:t>Critical Churn in Key Regions: </a:t>
            </a:r>
            <a:r>
              <a:rPr lang="en-US" dirty="0">
                <a:ea typeface="Arial" panose="020B0604020202020204" pitchFamily="34" charset="0"/>
              </a:rPr>
              <a:t>Several countries face a 100% customer churn, indicating a severe retention crisis requiring immediate investigation.</a:t>
            </a:r>
          </a:p>
          <a:p>
            <a:pPr lvl="0" algn="just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b="1" dirty="0">
                <a:ea typeface="Arial" panose="020B0604020202020204" pitchFamily="34" charset="0"/>
              </a:rPr>
              <a:t>High Average Churn: </a:t>
            </a:r>
            <a:r>
              <a:rPr lang="en-US" dirty="0">
                <a:ea typeface="Arial" panose="020B0604020202020204" pitchFamily="34" charset="0"/>
              </a:rPr>
              <a:t>An average churn rate of 37.20% signifies a significant loss of customers, necessitating urgent action to stabilize the customer base.</a:t>
            </a:r>
          </a:p>
          <a:p>
            <a:pPr lvl="0" algn="just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b="1" dirty="0">
                <a:ea typeface="Arial" panose="020B0604020202020204" pitchFamily="34" charset="0"/>
              </a:rPr>
              <a:t>Inconsistent Retention Globally: </a:t>
            </a:r>
            <a:r>
              <a:rPr lang="en-US" dirty="0">
                <a:ea typeface="Arial" panose="020B0604020202020204" pitchFamily="34" charset="0"/>
              </a:rPr>
              <a:t>Customer retention varies widely by country, suggesting the need for tailored strategies and learning from successful regions (0% churn).</a:t>
            </a:r>
          </a:p>
          <a:p>
            <a:pPr lvl="0" algn="just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b="1" dirty="0">
                <a:ea typeface="Arial" panose="020B0604020202020204" pitchFamily="34" charset="0"/>
              </a:rPr>
              <a:t>Actionable Strategies Needed: </a:t>
            </a:r>
            <a:r>
              <a:rPr lang="en-US" dirty="0">
                <a:ea typeface="Arial" panose="020B0604020202020204" pitchFamily="34" charset="0"/>
              </a:rPr>
              <a:t>Implement improved customer service and launch targeted campaigns (promotions, events) to reduce churn and attract new customers effectively.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0845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E8EEC-B14C-F22F-3AB3-CDF7C5276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Affinity Analysis 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3E5B82-638E-C27C-93A5-6D403170A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4189" y="1941096"/>
            <a:ext cx="10266948" cy="377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09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398BD-0EEC-EFC9-4F2A-8FC4EB8CD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Affinity Analysis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62E51-324E-C977-7AF5-1D1FB95A9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algn="just">
              <a:lnSpc>
                <a:spcPct val="104000"/>
              </a:lnSpc>
              <a:buNone/>
            </a:pPr>
            <a:r>
              <a:rPr lang="en-US" b="1" dirty="0">
                <a:ea typeface="Times New Roman" panose="02020603050405020304" pitchFamily="18" charset="0"/>
              </a:rPr>
              <a:t>Genre-Based Preferences:</a:t>
            </a: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4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a typeface="Times New Roman" panose="02020603050405020304" pitchFamily="18" charset="0"/>
              </a:rPr>
              <a:t>Rock, Metal, and Alternative &amp; Punk are often bought together, so fans of one genre may enjoy the others too.</a:t>
            </a:r>
          </a:p>
          <a:p>
            <a:pPr marL="342900" marR="0" lvl="0" indent="-342900" algn="just">
              <a:lnSpc>
                <a:spcPct val="104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a typeface="Times New Roman" panose="02020603050405020304" pitchFamily="18" charset="0"/>
              </a:rPr>
              <a:t>Latin and Blues show up as secondary choices and can be grouped into themed playlists or bundles.</a:t>
            </a:r>
          </a:p>
          <a:p>
            <a:pPr marL="0" marR="0" algn="just">
              <a:lnSpc>
                <a:spcPct val="104000"/>
              </a:lnSpc>
              <a:buNone/>
            </a:pPr>
            <a:r>
              <a:rPr lang="en-US" b="1" dirty="0">
                <a:ea typeface="Times New Roman" panose="02020603050405020304" pitchFamily="18" charset="0"/>
              </a:rPr>
              <a:t>Cross-Selling Ideas:</a:t>
            </a: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4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a typeface="Times New Roman" panose="02020603050405020304" pitchFamily="18" charset="0"/>
              </a:rPr>
              <a:t>Bundles &amp; Discounts: Create combo offers like Rock + Metal album packs or give discounts for buying within related genres.</a:t>
            </a:r>
          </a:p>
          <a:p>
            <a:pPr marL="342900" marR="0" lvl="0" indent="-342900" algn="just">
              <a:lnSpc>
                <a:spcPct val="104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a typeface="Times New Roman" panose="02020603050405020304" pitchFamily="18" charset="0"/>
              </a:rPr>
              <a:t>Recommendations: Show suggestions like People who bought Rock albums also bought Punk and Alternative albums.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1441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ABDA8-9BD1-072C-5AD8-DCA2AF734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Prioritizing USA Album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2BC28-149C-AC7E-BA22-C6CF042B5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28800"/>
            <a:ext cx="10131425" cy="4588041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algn="just">
              <a:lnSpc>
                <a:spcPct val="104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900" b="1" dirty="0">
                <a:ea typeface="Times New Roman" panose="02020603050405020304" pitchFamily="18" charset="0"/>
              </a:rPr>
              <a:t>Seek And Shall Find: More Of The Best (1963–1981)</a:t>
            </a:r>
            <a:endParaRPr lang="en-US" sz="1900" dirty="0">
              <a:ea typeface="Times New Roman" panose="02020603050405020304" pitchFamily="18" charset="0"/>
            </a:endParaRPr>
          </a:p>
          <a:p>
            <a:pPr lvl="1" algn="just">
              <a:lnSpc>
                <a:spcPct val="104000"/>
              </a:lnSpc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900" dirty="0">
                <a:ea typeface="Times New Roman" panose="02020603050405020304" pitchFamily="18" charset="0"/>
              </a:rPr>
              <a:t>Genre: R&amp;B/Soul, Sales Value: 387.09 (Highest)</a:t>
            </a:r>
          </a:p>
          <a:p>
            <a:pPr lvl="1" algn="just">
              <a:lnSpc>
                <a:spcPct val="104000"/>
              </a:lnSpc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900" dirty="0">
                <a:ea typeface="Times New Roman" panose="02020603050405020304" pitchFamily="18" charset="0"/>
              </a:rPr>
              <a:t>Justification: This album tops the sales chart, highlighting a strong market demand for R&amp;B/Soul in the USA.</a:t>
            </a:r>
          </a:p>
          <a:p>
            <a:pPr marL="342900" marR="0" lvl="0" indent="-342900" algn="just">
              <a:lnSpc>
                <a:spcPct val="104000"/>
              </a:lnSpc>
              <a:buFont typeface="+mj-lt"/>
              <a:buAutoNum type="arabicPeriod" startAt="2"/>
              <a:tabLst>
                <a:tab pos="457200" algn="l"/>
              </a:tabLst>
            </a:pPr>
            <a:r>
              <a:rPr lang="en-US" sz="1900" b="1" dirty="0">
                <a:ea typeface="Times New Roman" panose="02020603050405020304" pitchFamily="18" charset="0"/>
              </a:rPr>
              <a:t>From The Muddy Banks Of The Wishkah [Live]</a:t>
            </a:r>
            <a:endParaRPr lang="en-US" sz="1900" dirty="0">
              <a:ea typeface="Times New Roman" panose="02020603050405020304" pitchFamily="18" charset="0"/>
            </a:endParaRPr>
          </a:p>
          <a:p>
            <a:pPr lvl="1" algn="just">
              <a:lnSpc>
                <a:spcPct val="104000"/>
              </a:lnSpc>
              <a:buFont typeface="Symbol" panose="05050102010706020507" pitchFamily="18" charset="2"/>
              <a:buChar char=""/>
            </a:pPr>
            <a:r>
              <a:rPr lang="en-US" sz="1900" dirty="0">
                <a:ea typeface="Times New Roman" panose="02020603050405020304" pitchFamily="18" charset="0"/>
              </a:rPr>
              <a:t>Genre: Rock, Sales Value: 379.17</a:t>
            </a:r>
          </a:p>
          <a:p>
            <a:pPr lvl="1" algn="just">
              <a:lnSpc>
                <a:spcPct val="104000"/>
              </a:lnSpc>
              <a:buFont typeface="Symbol" panose="05050102010706020507" pitchFamily="18" charset="2"/>
              <a:buChar char=""/>
            </a:pPr>
            <a:r>
              <a:rPr lang="en-US" sz="1900" dirty="0">
                <a:ea typeface="Times New Roman" panose="02020603050405020304" pitchFamily="18" charset="0"/>
              </a:rPr>
              <a:t>Justification: With Rock being a leading genre, this live album is likely to attract a loyal fanbase and drive promotional success.</a:t>
            </a:r>
          </a:p>
          <a:p>
            <a:pPr marL="342900" marR="0" lvl="0" indent="-342900" algn="just">
              <a:lnSpc>
                <a:spcPct val="104000"/>
              </a:lnSpc>
              <a:buFont typeface="+mj-lt"/>
              <a:buAutoNum type="arabicPeriod" startAt="3"/>
              <a:tabLst>
                <a:tab pos="457200" algn="l"/>
              </a:tabLst>
            </a:pPr>
            <a:r>
              <a:rPr lang="en-US" sz="1900" b="1" dirty="0">
                <a:ea typeface="Times New Roman" panose="02020603050405020304" pitchFamily="18" charset="0"/>
              </a:rPr>
              <a:t>Are You Experienced?</a:t>
            </a:r>
            <a:endParaRPr lang="en-US" sz="1900" dirty="0">
              <a:ea typeface="Times New Roman" panose="02020603050405020304" pitchFamily="18" charset="0"/>
            </a:endParaRPr>
          </a:p>
          <a:p>
            <a:pPr lvl="1" algn="just">
              <a:lnSpc>
                <a:spcPct val="104000"/>
              </a:lnSpc>
              <a:buFont typeface="Symbol" panose="05050102010706020507" pitchFamily="18" charset="2"/>
              <a:buChar char=""/>
            </a:pPr>
            <a:r>
              <a:rPr lang="en-US" sz="1900" dirty="0">
                <a:ea typeface="Times New Roman" panose="02020603050405020304" pitchFamily="18" charset="0"/>
              </a:rPr>
              <a:t>Genre: Rock, Sales Value: 370.26</a:t>
            </a:r>
          </a:p>
          <a:p>
            <a:pPr lvl="1" algn="just">
              <a:lnSpc>
                <a:spcPct val="104000"/>
              </a:lnSpc>
              <a:buFont typeface="Symbol" panose="05050102010706020507" pitchFamily="18" charset="2"/>
              <a:buChar char=""/>
            </a:pPr>
            <a:r>
              <a:rPr lang="en-US" sz="1900" dirty="0">
                <a:ea typeface="Times New Roman" panose="02020603050405020304" pitchFamily="18" charset="0"/>
              </a:rPr>
              <a:t>Justification: A classic rock album with proven sales potential, making it an ideal candidate for focused marketing efforts.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3023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0317D-755E-2E01-CD13-5AA89F33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Prioritizing USA Album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9212CC-F02A-08AD-1BC9-B2D07096E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90864" y="2065867"/>
            <a:ext cx="9726362" cy="380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76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A8AF1-61DE-62D7-7B33-F3E53E73D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8E65A-DDCC-55DF-D1DC-8E87FBFAA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60884"/>
            <a:ext cx="10131425" cy="4203031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Focus on High-Performing Genres: </a:t>
            </a:r>
            <a:r>
              <a:rPr lang="en-US" dirty="0"/>
              <a:t>Given the consistent dominance of Rock in both the USA and other markets, and the strong performance of R&amp;B/Soul in the USA, prioritize marketing and inventory for these genres in the physical music market.</a:t>
            </a:r>
          </a:p>
          <a:p>
            <a:pPr algn="just"/>
            <a:endParaRPr lang="en-US" sz="7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Address High Churn in Specific Regions: </a:t>
            </a:r>
            <a:r>
              <a:rPr lang="en-US" dirty="0"/>
              <a:t>The alarmingly high churn rates (100%) in several European and South American countries (e.g., Argentina, Belgium, Italy) demand immediate investigation into localized issues and the implementation of targeted retention strategies.</a:t>
            </a:r>
          </a:p>
          <a:p>
            <a:pPr algn="just"/>
            <a:endParaRPr lang="en-US" sz="7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Leverage Long-Term Customer Value: </a:t>
            </a:r>
            <a:r>
              <a:rPr lang="en-US" dirty="0"/>
              <a:t>Recognize that long-term customers exhibit significantly higher purchase frequency, basket size, and overall spending. Implement loyalty programs and engagement initiatives to nurture these valuable relationships in the physical market.</a:t>
            </a:r>
          </a:p>
          <a:p>
            <a:pPr algn="just"/>
            <a:endParaRPr lang="en-US" sz="7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Explore Product Affinity for Bundling: </a:t>
            </a:r>
            <a:r>
              <a:rPr lang="en-US" dirty="0"/>
              <a:t>The co-purchase patterns of genres like Rock, Metal, and Alternative &amp; Punk suggest opportunities for creating physical product bundles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8899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D426E-9174-DFF3-8557-4436A1F40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1A62E-2AA0-CFA1-14F2-EF1521177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277979"/>
            <a:ext cx="10131425" cy="3513221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Data Overview: </a:t>
            </a:r>
            <a:r>
              <a:rPr lang="en-US" dirty="0"/>
              <a:t>Chinook Music Services’ dataset of 11 detailed tables, covering global sales across 53 cities in 24 countries and a catalog of 275 artists and 347 albums across 25 genres, provides a solid foundation for data-driven strategies in the physical music market.</a:t>
            </a:r>
          </a:p>
          <a:p>
            <a:pPr algn="just"/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Genre Promotion Based on Sales Insights: </a:t>
            </a:r>
            <a:r>
              <a:rPr lang="en-US" dirty="0"/>
              <a:t>Focus on promoting top-performing genres like Rock and Alternative &amp; Punk in the USA, while adapting to regional trends such as Metal's global appeal.</a:t>
            </a:r>
          </a:p>
          <a:p>
            <a:pPr algn="just"/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Cross-Selling Through Purchase Patterns: </a:t>
            </a:r>
            <a:r>
              <a:rPr lang="en-US" dirty="0"/>
              <a:t>Use co-purchase data to identify genre and artist affinities, enabling effective cross-selling strategies that boost order value and revenue.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589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89BB0-9BCF-A1FB-8359-EC5180B33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70A3B-F3F3-F6B4-D896-F52452900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Customer Retention for Long-Term Value: </a:t>
            </a:r>
            <a:r>
              <a:rPr lang="en-US" dirty="0"/>
              <a:t>Reduce churn by targeting high-value, long-term customers with personalized campaigns that foster loyalty and maximize lifetime value.</a:t>
            </a:r>
          </a:p>
          <a:p>
            <a:pPr algn="just"/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Sustained Growth Through Data-Driven Strategy: </a:t>
            </a:r>
            <a:r>
              <a:rPr lang="en-US" dirty="0"/>
              <a:t>By leveraging sales insights, purchase behavior, and customer data Chinook can enhance genre marketing, optimize cross-selling, tailor regional approaches, and drive long-term growth in the physical music market.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8105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30128-802C-7335-D85F-E4454FD8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084" y="609600"/>
            <a:ext cx="6213142" cy="5791200"/>
          </a:xfrm>
        </p:spPr>
        <p:txBody>
          <a:bodyPr/>
          <a:lstStyle/>
          <a:p>
            <a:r>
              <a:rPr lang="en-IN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575992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60</TotalTime>
  <Words>1637</Words>
  <Application>Microsoft Office PowerPoint</Application>
  <PresentationFormat>Widescreen</PresentationFormat>
  <Paragraphs>100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Symbol</vt:lpstr>
      <vt:lpstr>Times New Roman</vt:lpstr>
      <vt:lpstr>Univers Condensed Light (Body)</vt:lpstr>
      <vt:lpstr>Celestial</vt:lpstr>
      <vt:lpstr>Chinook Music store analysis</vt:lpstr>
      <vt:lpstr>About Chinook Music</vt:lpstr>
      <vt:lpstr>Introduction and Objectives</vt:lpstr>
      <vt:lpstr>Objectives </vt:lpstr>
      <vt:lpstr>Chinook Music Store Database Schema </vt:lpstr>
      <vt:lpstr>Chinook Data Overview</vt:lpstr>
      <vt:lpstr>Customers In Each Country</vt:lpstr>
      <vt:lpstr>Customers In Each Country</vt:lpstr>
      <vt:lpstr>Revenue Across Cities &amp; Countries</vt:lpstr>
      <vt:lpstr>Revenue Across Cities &amp; Countries</vt:lpstr>
      <vt:lpstr>Customer Purchasing Behavior </vt:lpstr>
      <vt:lpstr>Customer Purchasing Behavior </vt:lpstr>
      <vt:lpstr>Sales By Genre In USA &amp; Other Countries</vt:lpstr>
      <vt:lpstr>Sales By Genre In USA &amp; Other Countries</vt:lpstr>
      <vt:lpstr>Churn Rate</vt:lpstr>
      <vt:lpstr>Product Affinity Analysis </vt:lpstr>
      <vt:lpstr>Product Affinity Analysis </vt:lpstr>
      <vt:lpstr>Prioritizing USA Album </vt:lpstr>
      <vt:lpstr>Prioritizing USA Album </vt:lpstr>
      <vt:lpstr>Strategy</vt:lpstr>
      <vt:lpstr>Conclusion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Mihir Deshpande</dc:creator>
  <cp:lastModifiedBy>Mihir Deshpande</cp:lastModifiedBy>
  <cp:revision>2</cp:revision>
  <dcterms:created xsi:type="dcterms:W3CDTF">2025-12-14T14:19:57Z</dcterms:created>
  <dcterms:modified xsi:type="dcterms:W3CDTF">2025-12-14T15:20:29Z</dcterms:modified>
</cp:coreProperties>
</file>